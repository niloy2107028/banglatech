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8" r:id="rId6"/>
    <p:sldId id="269" r:id="rId7"/>
    <p:sldId id="280" r:id="rId8"/>
    <p:sldId id="281" r:id="rId9"/>
    <p:sldId id="287" r:id="rId10"/>
    <p:sldId id="270" r:id="rId11"/>
    <p:sldId id="271" r:id="rId12"/>
    <p:sldId id="274" r:id="rId13"/>
    <p:sldId id="277" r:id="rId14"/>
    <p:sldId id="275" r:id="rId15"/>
    <p:sldId id="276" r:id="rId16"/>
    <p:sldId id="278" r:id="rId17"/>
    <p:sldId id="282" r:id="rId18"/>
    <p:sldId id="283" r:id="rId19"/>
    <p:sldId id="284" r:id="rId20"/>
    <p:sldId id="285" r:id="rId21"/>
    <p:sldId id="286" r:id="rId22"/>
    <p:sldId id="279" r:id="rId23"/>
    <p:sldId id="26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45" autoAdjust="0"/>
  </p:normalViewPr>
  <p:slideViewPr>
    <p:cSldViewPr snapToGrid="0">
      <p:cViewPr varScale="1">
        <p:scale>
          <a:sx n="92" d="100"/>
          <a:sy n="92" d="100"/>
        </p:scale>
        <p:origin x="288" y="77"/>
      </p:cViewPr>
      <p:guideLst/>
    </p:cSldViewPr>
  </p:slideViewPr>
  <p:outlineViewPr>
    <p:cViewPr>
      <p:scale>
        <a:sx n="33" d="100"/>
        <a:sy n="33" d="100"/>
      </p:scale>
      <p:origin x="0" y="-7421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386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B61F67-4219-82BD-D357-355AA7591C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FE2BF-AD88-9811-C6DD-79DABAC559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DDA53-17BB-4810-91A8-94FE944ADC38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8F7338-476F-59A1-B752-865882DA12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C2ED2-F5D9-8398-9B1F-9E1D760B07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BCF56-022D-4E84-9600-36794E4DE2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505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08D30-F807-4561-A81E-6E077448AA00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2C05A-7A07-4286-AA18-B883C0AF9A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8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507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528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60DC2-2640-8E3D-3EAC-3DFE2F8B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40B49-C659-8163-80B0-DFBFBC53F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3D44A-58E0-27BC-342E-3FA61B0BF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F7A35-01CD-05D3-E658-7A455E148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886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F6477-D879-52F4-D9F2-D8D3FF36B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E2CF61-8635-C6A4-33A2-A3E235366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675F9-E7AF-5CB9-3547-A727F751D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0D018-A766-62BA-4A53-F9136D931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67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93E4E-7B43-279A-393F-C2704D10C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D93DDE-5617-8EE5-EDDE-EDEB3C169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E1654-383E-195A-C567-E4E75560D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CF984-6326-EADE-1354-56DDDF1C2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646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63D36-00A3-D99D-0933-5224CBD18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695719-60D5-BD31-BE42-EE870099C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1BC65D-96E4-E606-5086-DE001236D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BF320-09B4-FA78-2C12-492B43791C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639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A1BEC-BD92-675A-76B2-9EB3FA122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D5E68-5361-5FC8-9E8A-427C99E38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004D59-134C-BB3D-43B5-D342E6E01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13587-A4D1-CB43-CE58-03FC0E41F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329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D56B3-4B7C-B967-4BAB-E22286C2D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D6630-DFBE-7763-FAA0-E43EDAB8E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A2F22-9D8F-E4E3-964B-EEAC350DF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34230-F5CC-5C43-E71F-7EF664EBA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424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B6F57-B602-4F7F-3212-C47641D3A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96082B-FA9E-A5C3-B3D2-9DB1A4ECC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24DF0-EF0B-BA73-EF7D-5286AE5CB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13AEE-DF84-E44E-AB0E-1A4C20A99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81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A9456-64A4-9A7F-74F4-092F043A6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CB736-11AE-E89D-D171-28BF8DF43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49147-21C9-3DE8-35AF-90D84F9CF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6861C-CC82-7C94-48AD-1A4153E63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004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FBBF1-0788-1B44-114B-5316F7823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E76E1C-5C6F-B0BC-DD85-46727B4F7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3FA1CC-35F2-D575-7B81-DA3C60D11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9926-E066-2660-3D14-FD031346D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557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65765-F7EC-4B70-5F55-5B95B5CD0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F4E1DD-82B9-029A-0AFB-C2D92C712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C6207-198B-645F-7B8D-1E2B47FFD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32B5E-E5C2-80FE-3AC2-208B3627B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176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D290D-077C-BD5C-0347-8D00ADA47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18C1A4-99A3-EB44-F872-E95F795FC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19DD65-8224-CF70-4CD2-7D13E86B8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66CC0-2252-11FF-54B9-BA0284A2F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7533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743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9686" y="1209643"/>
            <a:ext cx="8508273" cy="4968000"/>
          </a:xfrm>
        </p:spPr>
        <p:txBody>
          <a:bodyPr anchor="ctr"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3499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phic 45">
            <a:extLst>
              <a:ext uri="{FF2B5EF4-FFF2-40B4-BE49-F238E27FC236}">
                <a16:creationId xmlns:a16="http://schemas.microsoft.com/office/drawing/2014/main" id="{FFDE191C-52DF-6A6D-EC88-18A052FFB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7716"/>
          <a:stretch/>
        </p:blipFill>
        <p:spPr>
          <a:xfrm rot="16200000">
            <a:off x="9722190" y="160175"/>
            <a:ext cx="2394401" cy="2545223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6D30DCAC-B495-853F-9921-FBA390186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140620" y="2616531"/>
            <a:ext cx="2394401" cy="408644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CB78A71-D8F9-12A2-1D4E-A2C2E4E15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594100" y="380999"/>
            <a:ext cx="4972050" cy="5475954"/>
            <a:chOff x="1698171" y="691024"/>
            <a:chExt cx="4972050" cy="547595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1FCBAB4-0CBD-A738-A058-100C35A0BDF1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972050" cy="5475954"/>
              <a:chOff x="1466850" y="380320"/>
              <a:chExt cx="5233574" cy="5763985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67098CE-4555-2BEE-5226-2E2F9EE1D5BB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5233574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A0CBAEB-0BE9-F75E-CB8D-A411C52E889A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5233574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EDFCBD7-3731-A5D1-BB82-218531D6BA6E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A6D4634-51B3-BE70-0479-199D811D75F3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2B1D16B-1A18-4890-4596-F24DD1C0BA94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98E60AF-0ABD-505A-4D5D-18B025CCA331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0" name="Title 1">
            <a:extLst>
              <a:ext uri="{FF2B5EF4-FFF2-40B4-BE49-F238E27FC236}">
                <a16:creationId xmlns:a16="http://schemas.microsoft.com/office/drawing/2014/main" id="{A048DF11-5712-A1DF-9E33-2C705AF54B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068" y="851547"/>
            <a:ext cx="4275364" cy="197963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5FC08F1C-3206-A42D-3BCD-F04FBA7839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7886" y="2831182"/>
            <a:ext cx="4275364" cy="2660213"/>
          </a:xfrm>
        </p:spPr>
        <p:txBody>
          <a:bodyPr tIns="0" bIns="0"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600"/>
            </a:lvl3pPr>
            <a:lvl4pPr>
              <a:lnSpc>
                <a:spcPct val="150000"/>
              </a:lnSpc>
              <a:defRPr sz="1400"/>
            </a:lvl4pPr>
            <a:lvl5pPr>
              <a:lnSpc>
                <a:spcPct val="150000"/>
              </a:lnSpc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9671B5C-5A86-C6A6-2913-1F73F100E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42D9D8C-0E11-E268-D458-EC3BC4FD2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Date Placeholder 3">
            <a:extLst>
              <a:ext uri="{FF2B5EF4-FFF2-40B4-BE49-F238E27FC236}">
                <a16:creationId xmlns:a16="http://schemas.microsoft.com/office/drawing/2014/main" id="{8E4CD02A-FF2F-864A-138B-368FE9BFD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1/6/2026</a:t>
            </a:fld>
            <a:endParaRPr lang="en-US" dirty="0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5B0F505A-EE51-9D7A-42EA-2CD2CD432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B4905353-8D75-B3E2-2489-1D6907755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4DBFD95C-0912-3222-EECA-8F84031BC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7F30B651-FA38-151D-A122-6186F222C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343855C-EC70-E12C-3368-415B1AC40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2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784" y="1059463"/>
            <a:ext cx="6008915" cy="4431932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81871" y="881363"/>
            <a:ext cx="4297680" cy="493776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8B87FB-2727-2ED0-7E72-76E55BE4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C4F77E-C259-1702-5FF7-B1EF4F060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E4EF1CA-0713-F725-CD7A-054E12143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1/6/2026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7C27500-80A5-ACE3-E5FE-30B63950C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6256C1F-A548-F457-2753-E96A83E5E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97F79C1-FB83-AC51-70F8-8E7305F7C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DD93F0-5136-93CB-0125-942AA6382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E7A212-2920-1971-09FB-8F2CF4512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4806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644" y="841808"/>
            <a:ext cx="6712153" cy="4012867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3774F2-22B6-2050-1FA9-905E2B2B5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532" y="4854677"/>
            <a:ext cx="6008915" cy="6529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406CD66-4AAA-6429-2E99-B4514373C2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4784" y="4854677"/>
            <a:ext cx="6008915" cy="65292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6631" y="859509"/>
            <a:ext cx="4324485" cy="498348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9CD2F2-6C1D-5B8C-C5CF-40222BAE8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16551A-8E0E-2E51-2D2F-BD765A674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612F406-221C-DFC9-5B2E-A6B4A06FF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1/6/2026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08FB81D-7980-C91F-E68F-CA152DB4A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790F93D-BC22-F46A-6921-211237434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BA151EE-A96C-A1AB-6996-3FF8F8AFA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0FBE0826-C479-F9B2-BE8C-B31F4CD98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278FC6-6AA7-8092-6593-326853123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3922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79ADB4-793B-694B-0F44-63AED5A3B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30572"/>
            <a:ext cx="10907016" cy="1162882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50" y="1917700"/>
            <a:ext cx="10907016" cy="3340099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4C63F8-081B-3D1E-1EC2-A59B7627A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B6F8D9-3C25-DDB8-6C45-D06BF5D83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A069417-406B-7583-F175-EE9B3830E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1/6/2026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DDC80A3-1127-C309-CCCF-459D4B365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7D4C341-6443-CB24-41AE-09E84AA6E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53FCF92-6C55-D212-BCA4-51709D62A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5EF7369-613A-D7D3-3478-17904CF31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B5CA49-A7D8-662B-28C7-95B7B7AD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599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6326" y="1224098"/>
            <a:ext cx="8939349" cy="3717472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B0A1C84-853A-628A-A9BA-CA6C9B1A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60173" y="5017288"/>
            <a:ext cx="7271656" cy="652923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60171" y="5017288"/>
            <a:ext cx="7271657" cy="65292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33416" y="1933575"/>
            <a:ext cx="5312664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50" y="1933575"/>
            <a:ext cx="5314950" cy="3661683"/>
          </a:xfrm>
          <a:prstGeom prst="roundRect">
            <a:avLst>
              <a:gd name="adj" fmla="val 9932"/>
            </a:avLst>
          </a:prstGeom>
          <a:solidFill>
            <a:schemeClr val="accent5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B85A72-D42C-6248-9886-01A284D0AE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C8E618-75F9-458D-3A62-1F2682AD9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417590-A410-1B88-C23B-74EA0E7EA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0C0BEF1-6AFB-D9F2-2B8C-DF15558CAB5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88999" y="2343150"/>
            <a:ext cx="4873446" cy="2994868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B32CC6-748C-4CAB-2EAB-F498EBD8B32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496321" y="2343150"/>
            <a:ext cx="4873446" cy="2990850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5B39729-974D-AA19-321C-259F9E677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1/6/2026</a:t>
            </a:fld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0225ACC-FFD9-6B8F-F487-1D67910EA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1D0E68D-DD6F-159D-E995-52C3D7D5E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B0E3525-56EE-84A4-2487-4BBC37B43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F9CA93E-AA01-748E-065E-20F3E1A1A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43D476-B609-7D5A-A9DF-7D73B31B1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089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482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49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3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8533775-BAF7-CC9D-D6AD-AD60D3BA94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88998" y="2343150"/>
            <a:ext cx="6762631" cy="2994868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96275" y="2343150"/>
            <a:ext cx="3062967" cy="2990850"/>
          </a:xfrm>
        </p:spPr>
        <p:txBody>
          <a:bodyPr/>
          <a:lstStyle>
            <a:lvl1pPr>
              <a:lnSpc>
                <a:spcPts val="1900"/>
              </a:lnSpc>
              <a:defRPr sz="1800"/>
            </a:lvl1pPr>
            <a:lvl2pPr>
              <a:lnSpc>
                <a:spcPts val="1900"/>
              </a:lnSpc>
              <a:defRPr sz="1800"/>
            </a:lvl2pPr>
            <a:lvl3pPr>
              <a:lnSpc>
                <a:spcPts val="1900"/>
              </a:lnSpc>
              <a:defRPr sz="1800"/>
            </a:lvl3pPr>
            <a:lvl4pPr>
              <a:lnSpc>
                <a:spcPts val="1900"/>
              </a:lnSpc>
              <a:defRPr sz="1800"/>
            </a:lvl4pPr>
            <a:lvl5pPr>
              <a:lnSpc>
                <a:spcPts val="19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94BBE0-379D-0165-CAC7-1F8B11D7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02F7C8-DEF9-7613-2C2E-1BE67CDD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60EE65A-711D-F38D-9188-D4EAE0031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1/6/2026</a:t>
            </a:fld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528D3B9C-A39A-B7F4-9EF1-8DACD6392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25BC426-76D2-E6A7-7ACC-B430676DC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BEC2F84A-080B-721D-C47A-BA27BCE90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AEAD915F-02B9-E376-AEE8-C9188A70E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91E374-28A1-DAB0-74F1-E14DD4733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354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45F31-81CB-7608-A735-BE1B508EC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49" y="403224"/>
            <a:ext cx="5946389" cy="22195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49" y="2884714"/>
            <a:ext cx="5946389" cy="1997530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D8C8DC-9BBB-5079-F2BB-7AFCEF6C3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57061" y="1320978"/>
            <a:ext cx="3550424" cy="3561705"/>
            <a:chOff x="1698171" y="691024"/>
            <a:chExt cx="3550424" cy="356170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8853234-6427-C6E9-934B-8E3D20680399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550424" cy="3561705"/>
              <a:chOff x="1466850" y="380319"/>
              <a:chExt cx="3737172" cy="374904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4A333EF-A4E5-C14C-30ED-1D0431BF42BD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3737172" cy="325374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7DA7D0A-FCD9-8D61-7756-4D154DAE693F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73717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AAD6121-8E16-380C-3CEE-AA15587ABCCA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B5606C5-9513-E7A1-2E78-26147F56380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7FCFA69-6517-C9E2-41E5-851F0B39E300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1DB0373-9CE8-0C17-DC5D-A761A9680A7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208C6DE-C3F7-D9D8-5020-CC917762A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D6D2E6-00C3-DFC4-E3CC-F7667A4CF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1250816-70E6-472B-5427-B70F0689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43018F2-43DC-265A-AC49-91D41C8BF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2402DB9-1860-2811-AF1D-2D4273F2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2D499E7-F68F-77A3-7384-16F7358B1F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77033" y="1809865"/>
            <a:ext cx="3520440" cy="3063240"/>
          </a:xfrm>
          <a:ln w="38100">
            <a:noFill/>
          </a:ln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215DAD2-571F-6D7B-15E5-224268BDE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724EE9-07D6-911A-3D7F-82EBAF56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DE1CF9C-D85F-CED5-1FFF-902538AAD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362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380999"/>
            <a:ext cx="11430000" cy="1643137"/>
            <a:chOff x="1698170" y="691024"/>
            <a:chExt cx="11430000" cy="164313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30000" cy="1643137"/>
              <a:chOff x="1466849" y="380320"/>
              <a:chExt cx="12031205" cy="172956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49" y="875621"/>
                <a:ext cx="12031204" cy="123426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5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2252872"/>
            <a:ext cx="11429999" cy="3635330"/>
            <a:chOff x="1698170" y="691024"/>
            <a:chExt cx="11429999" cy="363533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29999" cy="3635330"/>
              <a:chOff x="1466849" y="380320"/>
              <a:chExt cx="12031203" cy="3826546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12031202" cy="333124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DD7FB8EE-5B3A-2DFB-6FDF-44E5B3D93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990005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86" y="3059961"/>
            <a:ext cx="3961039" cy="246738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539386C-EDE8-05CD-6687-DDB57EB0D55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048250" y="3059960"/>
            <a:ext cx="6500116" cy="2467383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Click to add table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150A47-3CDE-6A2F-544A-5F98134DF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829F0F-DBDF-07B3-7893-FA37927FB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8B8345A-1B48-25C5-67AE-D78987BEF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1/6/2026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38A89FC-B8CA-14B7-D2D8-E768D99D8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FF78B34-411F-1CA2-E7AE-72EE59FB9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F0324D9-6571-4E22-7F05-EB7C4C252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5AD4638-F38E-56C0-D181-3C9488FAF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8BB575-A42F-625D-F8C0-71BACF90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54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049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2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71976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38E9543-72F0-3B98-EBDB-95F36BA54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1945" y="2343150"/>
            <a:ext cx="3062967" cy="2990850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19626" y="2343150"/>
            <a:ext cx="6626226" cy="2994868"/>
          </a:xfrm>
        </p:spPr>
        <p:txBody>
          <a:bodyPr/>
          <a:lstStyle>
            <a:lvl1pPr marL="0" indent="0">
              <a:lnSpc>
                <a:spcPts val="1900"/>
              </a:lnSpc>
              <a:buNone/>
              <a:defRPr sz="1800"/>
            </a:lvl1pPr>
            <a:lvl2pPr>
              <a:lnSpc>
                <a:spcPts val="1900"/>
              </a:lnSpc>
              <a:defRPr sz="1800"/>
            </a:lvl2pPr>
            <a:lvl3pPr>
              <a:lnSpc>
                <a:spcPts val="1900"/>
              </a:lnSpc>
              <a:defRPr sz="1800"/>
            </a:lvl3pPr>
            <a:lvl4pPr>
              <a:lnSpc>
                <a:spcPts val="1900"/>
              </a:lnSpc>
              <a:defRPr sz="1800"/>
            </a:lvl4pPr>
            <a:lvl5pPr>
              <a:lnSpc>
                <a:spcPts val="19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299C66-96F4-78D6-A62C-38668D590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2A6D20-3BBC-4875-E1DD-C75389BF2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0375AD72-FEF2-7BD7-B33E-DE98FDD65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1/6/2026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5C69E5E-6C22-57DA-0C62-9C6B32032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4542827-11B9-15CF-AB8E-86115BEF9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EF1536F-20D9-1950-220E-4E6B881E9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8E904D7-AB01-FD2A-6191-37814CBD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5DD3E5-31DE-DE3C-B506-E5AF1EC6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0598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18AADC3C-8146-4144-3ABA-28E1B1F4AAD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934493" y="1202058"/>
            <a:ext cx="6876504" cy="427024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1/6/2026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521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5477807-ECB9-BBC9-E832-2FE89AC32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746" y="327023"/>
            <a:ext cx="5931354" cy="5561465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6000" dirty="0"/>
            </a:lvl1pPr>
          </a:lstStyle>
          <a:p>
            <a:pPr lvl="0" algn="ctr"/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66CFD9-87C8-0968-9FB0-CF7AE4F61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75684" y="1200589"/>
            <a:ext cx="3365366" cy="3804114"/>
            <a:chOff x="1698171" y="691024"/>
            <a:chExt cx="3365366" cy="380411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571AD75-22F7-E387-8455-0EE6231C2AA8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365366" cy="3804114"/>
              <a:chOff x="1466850" y="380320"/>
              <a:chExt cx="3542380" cy="4004209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4EBD37B-479C-8610-9921-3DD1D3B53203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3542380" cy="350890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E9DA007-4D12-4E50-8A2A-BFEB557D2755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54238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3696F41-7A57-6A71-48E0-57DC0FD1F45D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9B518BB-BA01-734C-8F35-C569614E32E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0CA477C-B13C-EF0B-F67F-CF0F4D703D69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ADDCC6C-0428-0F66-95AF-F34D60323CEB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199" y="1788339"/>
            <a:ext cx="3103201" cy="3092539"/>
          </a:xfrm>
        </p:spPr>
        <p:txBody>
          <a:bodyPr tIns="0" bIns="0" anchor="ctr"/>
          <a:lstStyle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DDDB5-9047-790A-C8B0-D67E44B72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9A5963-0FEC-D9BF-54CB-A3D6D118A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27DBEC2-F0F7-1E8A-EDBA-2EB379509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1/6/2026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947C04A-7458-C36D-EE89-0C1F41AF3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C13B35D-F747-92EE-37C0-27E1CA8B5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DD40548-01E2-C4C3-74D5-E53F4A1C3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21946D-D90D-3F7E-3E92-78C7E120A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97D881-DBBF-010E-A63C-99B4B0D41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2057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34495" y="1202058"/>
            <a:ext cx="6876502" cy="42685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1/6/2026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7152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D1964D-F9CA-9278-BD33-03FD979E6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9857CF-1C39-27BB-9B6B-6A0C1DD0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8B31A7E-FD72-B42E-26A8-319F776C1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1/6/2026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2487FC0-E254-7086-CC55-D7BFCEACE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F41C3E4-FF61-A611-F912-98F344213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B15F18C-70F5-E214-E8DA-4CFAE27FE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A727095-DB42-91AA-4BB8-1CE63D89B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89DC3C-8238-2625-2CBD-974CA4F81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D8EA3-B846-4160-95E9-486302147031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80" r:id="rId2"/>
    <p:sldLayoutId id="2147483672" r:id="rId3"/>
    <p:sldLayoutId id="2147483673" r:id="rId4"/>
    <p:sldLayoutId id="2147483674" r:id="rId5"/>
    <p:sldLayoutId id="2147483649" r:id="rId6"/>
    <p:sldLayoutId id="2147483675" r:id="rId7"/>
    <p:sldLayoutId id="2147483676" r:id="rId8"/>
    <p:sldLayoutId id="2147483664" r:id="rId9"/>
    <p:sldLayoutId id="2147483677" r:id="rId10"/>
    <p:sldLayoutId id="2147483678" r:id="rId11"/>
    <p:sldLayoutId id="2147483681" r:id="rId12"/>
    <p:sldLayoutId id="2147483679" r:id="rId13"/>
    <p:sldLayoutId id="2147483662" r:id="rId14"/>
    <p:sldLayoutId id="2147483655" r:id="rId1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urvey.stackoverflow.co/2024/" TargetMode="External"/><Relationship Id="rId7" Type="http://schemas.openxmlformats.org/officeDocument/2006/relationships/hyperlink" Target="https://aiindex.stanford.edu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jamstack.org/survey/" TargetMode="External"/><Relationship Id="rId5" Type="http://schemas.openxmlformats.org/officeDocument/2006/relationships/hyperlink" Target="https://w3techs.com/" TargetMode="External"/><Relationship Id="rId4" Type="http://schemas.openxmlformats.org/officeDocument/2006/relationships/hyperlink" Target="https://stateofjs.com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hqprint">
            <a:alphaModFix amt="8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686" y="1209643"/>
            <a:ext cx="8508273" cy="4968000"/>
          </a:xfrm>
        </p:spPr>
        <p:txBody>
          <a:bodyPr/>
          <a:lstStyle/>
          <a:p>
            <a:r>
              <a:rPr lang="en-US" sz="4800" dirty="0" err="1">
                <a:solidFill>
                  <a:schemeClr val="accent3">
                    <a:lumMod val="50000"/>
                  </a:schemeClr>
                </a:solidFill>
              </a:rPr>
              <a:t>Bangla</a:t>
            </a:r>
            <a:r>
              <a:rPr lang="en-US" sz="4800" dirty="0" err="1">
                <a:solidFill>
                  <a:srgbClr val="FF0000"/>
                </a:solidFill>
              </a:rPr>
              <a:t>Tech</a:t>
            </a:r>
            <a:br>
              <a:rPr lang="en-US" sz="4800" dirty="0"/>
            </a:br>
            <a:r>
              <a:rPr lang="en-US" sz="4800" b="1" dirty="0"/>
              <a:t>E-Commerce Platform</a:t>
            </a:r>
            <a:br>
              <a:rPr lang="en-US" b="1" dirty="0"/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/>
          <a:lstStyle/>
          <a:p>
            <a:r>
              <a:rPr lang="en-US" b="1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917700"/>
            <a:ext cx="10907016" cy="33400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Build a scalable multi-vendor marketplace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Implement role-based access control (Customer, Seller, Admin)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Create responsive and modern UI/UX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Integrate AI chatbot for product recommendations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Ensure secure authentication and payment processing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Deploy on free-tier cloud platforms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4579C-DA6D-B905-B710-1E6243E8C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420634-75FC-1021-C59D-6A615E04C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650CD-AFBD-ADF8-E2EA-45B130516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F95B-1BD4-E958-A608-085415EA3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9173769" cy="677443"/>
          </a:xfrm>
        </p:spPr>
        <p:txBody>
          <a:bodyPr/>
          <a:lstStyle/>
          <a:p>
            <a:r>
              <a:rPr lang="en-US" b="1" dirty="0"/>
              <a:t>Technology Stack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8E192-B60D-DF02-39CD-76988EB023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039047-4A7E-BC8C-A63D-5F53611C2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BEBE59-93A5-30F6-5671-56C559E5C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886016"/>
              </p:ext>
            </p:extLst>
          </p:nvPr>
        </p:nvGraphicFramePr>
        <p:xfrm>
          <a:off x="1370664" y="1253331"/>
          <a:ext cx="9207853" cy="4351338"/>
        </p:xfrm>
        <a:graphic>
          <a:graphicData uri="http://schemas.openxmlformats.org/drawingml/2006/table">
            <a:tbl>
              <a:tblPr/>
              <a:tblGrid>
                <a:gridCol w="1928785">
                  <a:extLst>
                    <a:ext uri="{9D8B030D-6E8A-4147-A177-3AD203B41FA5}">
                      <a16:colId xmlns:a16="http://schemas.microsoft.com/office/drawing/2014/main" val="3998705156"/>
                    </a:ext>
                  </a:extLst>
                </a:gridCol>
                <a:gridCol w="1928785">
                  <a:extLst>
                    <a:ext uri="{9D8B030D-6E8A-4147-A177-3AD203B41FA5}">
                      <a16:colId xmlns:a16="http://schemas.microsoft.com/office/drawing/2014/main" val="851359393"/>
                    </a:ext>
                  </a:extLst>
                </a:gridCol>
                <a:gridCol w="1928785">
                  <a:extLst>
                    <a:ext uri="{9D8B030D-6E8A-4147-A177-3AD203B41FA5}">
                      <a16:colId xmlns:a16="http://schemas.microsoft.com/office/drawing/2014/main" val="2406245249"/>
                    </a:ext>
                  </a:extLst>
                </a:gridCol>
                <a:gridCol w="3421498">
                  <a:extLst>
                    <a:ext uri="{9D8B030D-6E8A-4147-A177-3AD203B41FA5}">
                      <a16:colId xmlns:a16="http://schemas.microsoft.com/office/drawing/2014/main" val="600081749"/>
                    </a:ext>
                  </a:extLst>
                </a:gridCol>
              </a:tblGrid>
              <a:tr h="2365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Layer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Technology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Purpose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Market Adoption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241180"/>
                  </a:ext>
                </a:extLst>
              </a:tr>
              <a:tr h="606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Frontend</a:t>
                      </a:r>
                      <a:endParaRPr lang="en-US" sz="1200">
                        <a:effectLst/>
                      </a:endParaRP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Next.js 14+ (React)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Server-side rendering, routing, SEO optimization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React: 40.6% ¹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381542"/>
                  </a:ext>
                </a:extLst>
              </a:tr>
              <a:tr h="421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Backend</a:t>
                      </a:r>
                      <a:endParaRPr lang="en-US" sz="1200">
                        <a:effectLst/>
                      </a:endParaRP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Node.js + Express.js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RESTful API, business logic, middleware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Node.js: 42.7% ¹ Django: 13.4%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745166"/>
                  </a:ext>
                </a:extLst>
              </a:tr>
              <a:tr h="421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Database</a:t>
                      </a:r>
                      <a:endParaRPr lang="en-US" sz="1200">
                        <a:effectLst/>
                      </a:endParaRP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MongoDB + Mongoose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sz="1200">
                          <a:effectLst/>
                        </a:rPr>
                        <a:t>NoSQL database for flexible schema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MongoDB: 25.4% ¹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2414529"/>
                  </a:ext>
                </a:extLst>
              </a:tr>
              <a:tr h="606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Authentication</a:t>
                      </a:r>
                      <a:endParaRPr lang="en-US" sz="1200">
                        <a:effectLst/>
                      </a:endParaRP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JWT (JSON Web Tokens)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Secure user authentication &amp; authorization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JWT: ~70% ²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55735"/>
                  </a:ext>
                </a:extLst>
              </a:tr>
              <a:tr h="421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File Storage</a:t>
                      </a:r>
                      <a:endParaRPr lang="en-US" sz="1200">
                        <a:effectLst/>
                      </a:endParaRP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Cloudinary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Image/media hosting and optimization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Cloudinary: 15% ³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205167"/>
                  </a:ext>
                </a:extLst>
              </a:tr>
              <a:tr h="421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Payment</a:t>
                      </a:r>
                      <a:endParaRPr lang="en-US" sz="1200">
                        <a:effectLst/>
                      </a:endParaRP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Dummy Gateway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Payment simulation for demo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N/A (Demo)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147853"/>
                  </a:ext>
                </a:extLst>
              </a:tr>
              <a:tr h="606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Deployment</a:t>
                      </a:r>
                      <a:endParaRPr lang="en-US" sz="1200">
                        <a:effectLst/>
                      </a:endParaRP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Vercel (Frontend) + Render/Railway (Backend)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Cloud hosting on free tier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Vercel: 18% ⁴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834592"/>
                  </a:ext>
                </a:extLst>
              </a:tr>
              <a:tr h="606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AI Integration</a:t>
                      </a:r>
                      <a:endParaRPr lang="en-US" sz="1200">
                        <a:effectLst/>
                      </a:endParaRP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OpenAI API / Custom ML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Product recommendation &amp; chatbot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OpenAI: 65% ⁵</a:t>
                      </a:r>
                    </a:p>
                  </a:txBody>
                  <a:tcPr marL="51434" marR="51434" marT="25717" marB="257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173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640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ADA3D-5201-88DA-69C2-19F32FB6A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4B2D4-DE30-CECA-95BD-4DEBCA2A10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74A201-A0C8-DDD6-FCB0-A1CFC9DC1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B33FCC-2B1B-3F25-74A4-342E6F26E320}"/>
              </a:ext>
            </a:extLst>
          </p:cNvPr>
          <p:cNvSpPr txBox="1"/>
          <p:nvPr/>
        </p:nvSpPr>
        <p:spPr>
          <a:xfrm>
            <a:off x="648049" y="505577"/>
            <a:ext cx="611138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b="1" i="0" dirty="0">
                <a:effectLst/>
                <a:latin typeface="-apple-system"/>
              </a:rPr>
              <a:t>References: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-apple-system"/>
              </a:rPr>
              <a:t>¹ </a:t>
            </a:r>
            <a:r>
              <a:rPr lang="en-US" i="0" u="none" strike="noStrike" dirty="0">
                <a:effectLst/>
                <a:latin typeface="-apple-syste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Stack Overflow Developer Survey 2024</a:t>
            </a:r>
            <a:endParaRPr lang="en-US" i="0" dirty="0"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-apple-system"/>
              </a:rPr>
              <a:t>² </a:t>
            </a:r>
            <a:r>
              <a:rPr lang="en-US" i="0" u="none" strike="noStrike" dirty="0"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State of JavaScript/API Authentication Survey 2024</a:t>
            </a:r>
            <a:endParaRPr lang="en-US" i="0" dirty="0"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-apple-system"/>
              </a:rPr>
              <a:t>³ </a:t>
            </a:r>
            <a:r>
              <a:rPr lang="en-US" i="0" u="none" strike="noStrike" dirty="0">
                <a:effectLst/>
                <a:latin typeface="-apple-syste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 Storage &amp; CDN Market Share 2024</a:t>
            </a:r>
            <a:endParaRPr lang="en-US" i="0" dirty="0"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-apple-system"/>
              </a:rPr>
              <a:t>⁴ </a:t>
            </a:r>
            <a:r>
              <a:rPr lang="en-US" i="0" u="none" strike="noStrike" dirty="0" err="1">
                <a:solidFill>
                  <a:srgbClr val="56C7AA"/>
                </a:solidFill>
                <a:effectLst/>
                <a:latin typeface="-apple-system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Jamstack</a:t>
            </a:r>
            <a:r>
              <a:rPr lang="en-US" i="0" u="none" strike="noStrike" dirty="0">
                <a:effectLst/>
                <a:latin typeface="-apple-system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Hosting Platform Statistics 2024</a:t>
            </a:r>
            <a:endParaRPr lang="en-US" i="0" dirty="0"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-apple-system"/>
              </a:rPr>
              <a:t>⁵ </a:t>
            </a:r>
            <a:r>
              <a:rPr lang="en-US" i="0" u="none" strike="noStrike" dirty="0">
                <a:effectLst/>
                <a:latin typeface="-apple-system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AI/ML API Usage Report 2024</a:t>
            </a:r>
            <a:endParaRPr lang="en-US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350698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FD11C-F17C-3706-51BD-A32B0B80A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46479-FB28-1368-435D-A053445E1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92B7F-F10D-8ACA-EBC2-FBD457A99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CBE571-3255-33FE-1C95-3EC7F4E85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53276"/>
              </p:ext>
            </p:extLst>
          </p:nvPr>
        </p:nvGraphicFramePr>
        <p:xfrm>
          <a:off x="525780" y="1045028"/>
          <a:ext cx="11140440" cy="2953001"/>
        </p:xfrm>
        <a:graphic>
          <a:graphicData uri="http://schemas.openxmlformats.org/drawingml/2006/table">
            <a:tbl>
              <a:tblPr/>
              <a:tblGrid>
                <a:gridCol w="2228088">
                  <a:extLst>
                    <a:ext uri="{9D8B030D-6E8A-4147-A177-3AD203B41FA5}">
                      <a16:colId xmlns:a16="http://schemas.microsoft.com/office/drawing/2014/main" val="2975361902"/>
                    </a:ext>
                  </a:extLst>
                </a:gridCol>
                <a:gridCol w="2228088">
                  <a:extLst>
                    <a:ext uri="{9D8B030D-6E8A-4147-A177-3AD203B41FA5}">
                      <a16:colId xmlns:a16="http://schemas.microsoft.com/office/drawing/2014/main" val="4097528871"/>
                    </a:ext>
                  </a:extLst>
                </a:gridCol>
                <a:gridCol w="2228088">
                  <a:extLst>
                    <a:ext uri="{9D8B030D-6E8A-4147-A177-3AD203B41FA5}">
                      <a16:colId xmlns:a16="http://schemas.microsoft.com/office/drawing/2014/main" val="3020434156"/>
                    </a:ext>
                  </a:extLst>
                </a:gridCol>
                <a:gridCol w="2228088">
                  <a:extLst>
                    <a:ext uri="{9D8B030D-6E8A-4147-A177-3AD203B41FA5}">
                      <a16:colId xmlns:a16="http://schemas.microsoft.com/office/drawing/2014/main" val="2749716309"/>
                    </a:ext>
                  </a:extLst>
                </a:gridCol>
                <a:gridCol w="2228088">
                  <a:extLst>
                    <a:ext uri="{9D8B030D-6E8A-4147-A177-3AD203B41FA5}">
                      <a16:colId xmlns:a16="http://schemas.microsoft.com/office/drawing/2014/main" val="3892605136"/>
                    </a:ext>
                  </a:extLst>
                </a:gridCol>
              </a:tblGrid>
              <a:tr h="3794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Technology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Global Usage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Web Development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Job Postings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Growth Trend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772892"/>
                  </a:ext>
                </a:extLst>
              </a:tr>
              <a:tr h="379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Node.js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42.7%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51.2%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High (↑)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Growing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153693"/>
                  </a:ext>
                </a:extLst>
              </a:tr>
              <a:tr h="379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React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40.6%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45.3%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Very High (↑↑)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Rapidly Growing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938280"/>
                  </a:ext>
                </a:extLst>
              </a:tr>
              <a:tr h="379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MongoDB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25.4%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28.1%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Medium (→)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Stable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475131"/>
                  </a:ext>
                </a:extLst>
              </a:tr>
              <a:tr h="379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Express.js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19.4%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22.8%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High (↑)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Growing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156869"/>
                  </a:ext>
                </a:extLst>
              </a:tr>
              <a:tr h="676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Python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51.0%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42.3%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Very High (↑↑)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Growing (Data Science)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38467"/>
                  </a:ext>
                </a:extLst>
              </a:tr>
              <a:tr h="379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Django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13.4%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18.7%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Medium (→)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Stable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884698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B8804B4-3ADE-BF6C-C694-6AA3C43D7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755" y="432752"/>
            <a:ext cx="4224233" cy="702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2352" rIns="9144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Usage Statistics (2024)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1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Source: Stack Overflow Developer Survey 2024, GitHub 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effectLst/>
                <a:latin typeface="-apple-system"/>
              </a:rPr>
              <a:t>Octoverse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 2024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804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976E8-A8E3-41A4-A39E-952FFB678F2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1C295-005B-4334-BC88-C54E520FE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0D8B67-369D-47E7-B874-E5BB1418C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78" y="343012"/>
            <a:ext cx="5705288" cy="28187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9F3A10-7FBE-4DF3-989E-63C8B8C62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77" y="3117272"/>
            <a:ext cx="5705289" cy="27688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9BE91D-5C1F-41B9-BBAB-B527A5B616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966" y="343012"/>
            <a:ext cx="5777356" cy="29322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007705-7557-4A73-8E8F-2229D3AF9B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966" y="3161788"/>
            <a:ext cx="5777357" cy="272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824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D6706-8270-04C8-C4AB-F3355304E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D6F2-6DF6-7729-C548-69C9498AA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8469094" cy="635498"/>
          </a:xfrm>
        </p:spPr>
        <p:txBody>
          <a:bodyPr/>
          <a:lstStyle/>
          <a:p>
            <a:r>
              <a:rPr lang="en-US" b="1" dirty="0"/>
              <a:t>Project Timeline (8-10 Weeks)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E0CE5-B02E-4A07-1E49-CF36C342E1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917700"/>
            <a:ext cx="10907016" cy="33400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Phase 1: Planning &amp; Setup (Week 1)</a:t>
            </a:r>
          </a:p>
          <a:p>
            <a:pPr lvl="1"/>
            <a:r>
              <a:rPr lang="en-US" dirty="0"/>
              <a:t>Define project requirements and features</a:t>
            </a:r>
          </a:p>
          <a:p>
            <a:pPr lvl="1"/>
            <a:r>
              <a:rPr lang="en-US" dirty="0"/>
              <a:t>Create project architecture diagram</a:t>
            </a:r>
          </a:p>
          <a:p>
            <a:pPr lvl="1"/>
            <a:r>
              <a:rPr lang="en-US" dirty="0"/>
              <a:t>Set up development environment</a:t>
            </a:r>
          </a:p>
          <a:p>
            <a:pPr lvl="1"/>
            <a:r>
              <a:rPr lang="en-US" dirty="0"/>
              <a:t>Initialize Git repository</a:t>
            </a:r>
          </a:p>
          <a:p>
            <a:pPr lvl="1"/>
            <a:r>
              <a:rPr lang="en-US" dirty="0"/>
              <a:t>Create database schema design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F9335-925F-F3FA-DC80-6A12062AC8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296FD-1651-041F-30D2-16FA59043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789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B2D0C-426A-F3A0-DA53-3E29D59EA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37D95-6D22-A83F-D105-7180605814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494950"/>
            <a:ext cx="10907016" cy="50501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Phase 2: Backend Development (Week 2-4)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Week 2: Core Backend Setup</a:t>
            </a:r>
          </a:p>
          <a:p>
            <a:pPr lvl="1"/>
            <a:r>
              <a:rPr lang="en-US" dirty="0"/>
              <a:t>Set up Node.js + Express server</a:t>
            </a:r>
          </a:p>
          <a:p>
            <a:pPr lvl="1"/>
            <a:r>
              <a:rPr lang="en-US" dirty="0"/>
              <a:t>Configure MongoDB connection</a:t>
            </a:r>
          </a:p>
          <a:p>
            <a:pPr lvl="1"/>
            <a:r>
              <a:rPr lang="en-US" dirty="0"/>
              <a:t>Create user, product, and order schemas</a:t>
            </a:r>
          </a:p>
          <a:p>
            <a:pPr lvl="1"/>
            <a:r>
              <a:rPr lang="en-US" dirty="0"/>
              <a:t>Build user registration &amp; login APIs</a:t>
            </a:r>
          </a:p>
          <a:p>
            <a:pPr marL="0" indent="0">
              <a:buNone/>
            </a:pPr>
            <a:r>
              <a:rPr lang="en-US" b="1" dirty="0"/>
              <a:t>Week 3: Product &amp; Seller Management</a:t>
            </a:r>
          </a:p>
          <a:p>
            <a:pPr lvl="1"/>
            <a:r>
              <a:rPr lang="en-US" dirty="0"/>
              <a:t>Develop product CRUD APIs</a:t>
            </a:r>
          </a:p>
          <a:p>
            <a:pPr lvl="1"/>
            <a:r>
              <a:rPr lang="en-US" dirty="0"/>
              <a:t>Create seller registration &amp; verification system</a:t>
            </a:r>
          </a:p>
          <a:p>
            <a:pPr lvl="1"/>
            <a:r>
              <a:rPr lang="en-US" dirty="0"/>
              <a:t>Build inventory management endpoints</a:t>
            </a:r>
          </a:p>
          <a:p>
            <a:pPr lvl="1"/>
            <a:r>
              <a:rPr lang="en-US" dirty="0"/>
              <a:t>Implement file upload with </a:t>
            </a:r>
            <a:r>
              <a:rPr lang="en-US" dirty="0" err="1"/>
              <a:t>Cloudinary</a:t>
            </a:r>
            <a:endParaRPr lang="en-US" dirty="0"/>
          </a:p>
          <a:p>
            <a:pPr lvl="1"/>
            <a:r>
              <a:rPr lang="en-US" dirty="0"/>
              <a:t>Create search and filter APIs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7CE2B-1452-CCEA-9ACE-5E61B9583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E34C8-A93A-19EA-5A37-EAA172E413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209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FD76A-BE41-1DD3-69EB-4C6C2E982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F8F49-BCEE-D30F-D865-AE19F12C39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5121" y="494950"/>
            <a:ext cx="10907016" cy="50501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Week 4: Order &amp; Admin Systems</a:t>
            </a:r>
          </a:p>
          <a:p>
            <a:pPr lvl="1"/>
            <a:r>
              <a:rPr lang="en-US" dirty="0"/>
              <a:t>Build checkout and order creation APIs</a:t>
            </a:r>
          </a:p>
          <a:p>
            <a:pPr lvl="1"/>
            <a:r>
              <a:rPr lang="en-US" dirty="0"/>
              <a:t>Implement order management system</a:t>
            </a:r>
          </a:p>
          <a:p>
            <a:pPr lvl="1"/>
            <a:r>
              <a:rPr lang="en-US" dirty="0"/>
              <a:t>Create admin dashboard APIs</a:t>
            </a:r>
          </a:p>
          <a:p>
            <a:pPr lvl="1"/>
            <a:r>
              <a:rPr lang="en-US" dirty="0"/>
              <a:t>Develop seller approval workflow</a:t>
            </a:r>
          </a:p>
          <a:p>
            <a:pPr lvl="1"/>
            <a:r>
              <a:rPr lang="en-US" dirty="0"/>
              <a:t>Build commission calculation logic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F950D-3149-027A-FB3F-01FEFB7464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4DE594-992B-E802-B0BB-58971F541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958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60EE3-0377-F5A8-2847-F12955F23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0A97F-4D2D-18FF-6F05-4BF3E4CF8E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5121" y="494950"/>
            <a:ext cx="10907016" cy="50501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Phase 3: Frontend Development (Week 5-7)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Week 5: Core UI &amp; Authentication</a:t>
            </a:r>
          </a:p>
          <a:p>
            <a:pPr lvl="1"/>
            <a:r>
              <a:rPr lang="en-US" dirty="0"/>
              <a:t>Set up Next.js project structure</a:t>
            </a:r>
          </a:p>
          <a:p>
            <a:pPr lvl="1"/>
            <a:r>
              <a:rPr lang="en-US" dirty="0"/>
              <a:t>Create responsive layouts and navigation</a:t>
            </a:r>
          </a:p>
          <a:p>
            <a:pPr lvl="1"/>
            <a:r>
              <a:rPr lang="en-US" dirty="0"/>
              <a:t>Build login/registration pages</a:t>
            </a:r>
          </a:p>
          <a:p>
            <a:pPr lvl="1"/>
            <a:r>
              <a:rPr lang="en-US" dirty="0"/>
              <a:t>Implement authentication flow</a:t>
            </a:r>
          </a:p>
          <a:p>
            <a:pPr lvl="1"/>
            <a:r>
              <a:rPr lang="en-US" dirty="0"/>
              <a:t>Design homepage and product listing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AD90C-5D08-6A64-DA65-EF14340A57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4A92DE-40C9-5846-8C95-D564895E5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865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D46B1-E005-96BD-1BA2-870FA1F14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F69DB-8BE9-1457-839A-9C9C856243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5121" y="494950"/>
            <a:ext cx="10907016" cy="50501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Week 6: User &amp; Shopping Features</a:t>
            </a:r>
          </a:p>
          <a:p>
            <a:pPr lvl="1"/>
            <a:r>
              <a:rPr lang="en-US" dirty="0"/>
              <a:t>Create product detail page</a:t>
            </a:r>
          </a:p>
          <a:p>
            <a:pPr lvl="1"/>
            <a:r>
              <a:rPr lang="en-US" dirty="0"/>
              <a:t>Build shopping cart functionality</a:t>
            </a:r>
          </a:p>
          <a:p>
            <a:pPr lvl="1"/>
            <a:r>
              <a:rPr lang="en-US" dirty="0"/>
              <a:t>Implement </a:t>
            </a:r>
            <a:r>
              <a:rPr lang="en-US" dirty="0" err="1"/>
              <a:t>wishlist</a:t>
            </a:r>
            <a:r>
              <a:rPr lang="en-US" dirty="0"/>
              <a:t> feature</a:t>
            </a:r>
          </a:p>
          <a:p>
            <a:pPr lvl="1"/>
            <a:r>
              <a:rPr lang="en-US" dirty="0"/>
              <a:t>Design checkout process</a:t>
            </a:r>
          </a:p>
          <a:p>
            <a:pPr lvl="1"/>
            <a:r>
              <a:rPr lang="en-US" dirty="0"/>
              <a:t>Create user dashboard and order history</a:t>
            </a:r>
          </a:p>
          <a:p>
            <a:pPr marL="0" indent="0">
              <a:buNone/>
            </a:pPr>
            <a:r>
              <a:rPr lang="en-US" b="1" dirty="0"/>
              <a:t>Week 7: Seller &amp; Admin Dashboards</a:t>
            </a:r>
          </a:p>
          <a:p>
            <a:pPr lvl="1"/>
            <a:r>
              <a:rPr lang="en-US" dirty="0"/>
              <a:t>Build seller product management UI</a:t>
            </a:r>
          </a:p>
          <a:p>
            <a:pPr lvl="1"/>
            <a:r>
              <a:rPr lang="en-US" dirty="0"/>
              <a:t>Create inventory and stock management</a:t>
            </a:r>
          </a:p>
          <a:p>
            <a:pPr lvl="1"/>
            <a:r>
              <a:rPr lang="en-US" dirty="0"/>
              <a:t>Design sales reports and analytics</a:t>
            </a:r>
          </a:p>
          <a:p>
            <a:pPr lvl="1"/>
            <a:r>
              <a:rPr lang="en-US" dirty="0"/>
              <a:t>Build admin dashboard</a:t>
            </a:r>
          </a:p>
          <a:p>
            <a:pPr lvl="1"/>
            <a:r>
              <a:rPr lang="en-US" dirty="0"/>
              <a:t>Implement user/seller moderation interface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2E15E-8DA0-550F-7B4B-EC9D7A1CB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1847C9-70E9-759D-DE4B-AFD5C8099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869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4DFA9-A8EA-F497-F71A-7E6984045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B8448-418B-47DC-2E74-CC4E445926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5121" y="494950"/>
            <a:ext cx="10907016" cy="52347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Phase 4: Advanced Features (Week 8)</a:t>
            </a:r>
          </a:p>
          <a:p>
            <a:pPr lvl="1"/>
            <a:r>
              <a:rPr lang="en-US" dirty="0"/>
              <a:t>Integrate AI chatbot for recommendations</a:t>
            </a:r>
          </a:p>
          <a:p>
            <a:pPr lvl="1"/>
            <a:r>
              <a:rPr lang="en-US" dirty="0"/>
              <a:t>Implement product recommendation system</a:t>
            </a:r>
          </a:p>
          <a:p>
            <a:pPr lvl="1"/>
            <a:r>
              <a:rPr lang="en-US" dirty="0"/>
              <a:t>Add ratings and reviews functionality</a:t>
            </a:r>
          </a:p>
          <a:p>
            <a:pPr lvl="1"/>
            <a:r>
              <a:rPr lang="en-US" dirty="0"/>
              <a:t>Build return &amp; refund system</a:t>
            </a:r>
          </a:p>
          <a:p>
            <a:pPr lvl="1"/>
            <a:r>
              <a:rPr lang="en-US" dirty="0"/>
              <a:t>Create notification system</a:t>
            </a:r>
          </a:p>
          <a:p>
            <a:pPr marL="0" indent="0">
              <a:buNone/>
            </a:pPr>
            <a:r>
              <a:rPr lang="en-US" b="1" dirty="0"/>
              <a:t>Phase 5: Testing &amp; Deployment (Week 9-10)</a:t>
            </a:r>
          </a:p>
          <a:p>
            <a:pPr lvl="1"/>
            <a:r>
              <a:rPr lang="en-US" dirty="0"/>
              <a:t>Unit testing (backend APIs)</a:t>
            </a:r>
          </a:p>
          <a:p>
            <a:pPr lvl="1"/>
            <a:r>
              <a:rPr lang="en-US" dirty="0"/>
              <a:t>Integration testing</a:t>
            </a:r>
          </a:p>
          <a:p>
            <a:pPr lvl="1"/>
            <a:r>
              <a:rPr lang="en-US" dirty="0"/>
              <a:t>UI/UX testing and refinement</a:t>
            </a:r>
          </a:p>
          <a:p>
            <a:pPr lvl="1"/>
            <a:r>
              <a:rPr lang="en-US" dirty="0"/>
              <a:t>Performance optimization</a:t>
            </a:r>
          </a:p>
          <a:p>
            <a:pPr lvl="1"/>
            <a:r>
              <a:rPr lang="en-US" dirty="0"/>
              <a:t>Deploy backend to Render/Railway</a:t>
            </a:r>
          </a:p>
          <a:p>
            <a:pPr lvl="1"/>
            <a:r>
              <a:rPr lang="en-US" dirty="0"/>
              <a:t>Deploy frontend to </a:t>
            </a:r>
            <a:r>
              <a:rPr lang="en-US" dirty="0" err="1"/>
              <a:t>Vercel</a:t>
            </a:r>
            <a:endParaRPr lang="en-US" dirty="0"/>
          </a:p>
          <a:p>
            <a:pPr lvl="1"/>
            <a:r>
              <a:rPr lang="en-US" dirty="0"/>
              <a:t>Configure environment variables</a:t>
            </a:r>
          </a:p>
          <a:p>
            <a:pPr lvl="1"/>
            <a:r>
              <a:rPr lang="en-US" dirty="0"/>
              <a:t>Final bug fixes and documentation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65276-D525-6926-791B-50311A9AE6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5D41D-1712-7925-4673-634678BE0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10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7DF4A-6B77-B873-7CB4-F90B4B1EC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49756-6C4C-3DC1-BC86-6A82FE8623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E7153-DA25-F456-C4BE-A452C5379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10014B-55F8-9211-CBF7-BE26749A3221}"/>
              </a:ext>
            </a:extLst>
          </p:cNvPr>
          <p:cNvSpPr txBox="1"/>
          <p:nvPr/>
        </p:nvSpPr>
        <p:spPr>
          <a:xfrm>
            <a:off x="586753" y="543930"/>
            <a:ext cx="1923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ER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884CCA-0E5A-4444-B8C2-4BEFC4EEF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325" y="332511"/>
            <a:ext cx="7171350" cy="55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897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456EB-8BA6-4723-BFBA-0D900B1C1A7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87447-B00E-45D4-9527-9FB04F4C1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81B976-7CC4-457F-965F-F8888B75D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396" y="342998"/>
            <a:ext cx="5295207" cy="55091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282A2C-E212-474B-B59C-7D79490466FA}"/>
              </a:ext>
            </a:extLst>
          </p:cNvPr>
          <p:cNvSpPr txBox="1"/>
          <p:nvPr/>
        </p:nvSpPr>
        <p:spPr>
          <a:xfrm>
            <a:off x="693948" y="550816"/>
            <a:ext cx="226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User Management</a:t>
            </a:r>
          </a:p>
        </p:txBody>
      </p:sp>
    </p:spTree>
    <p:extLst>
      <p:ext uri="{BB962C8B-B14F-4D97-AF65-F5344CB8AC3E}">
        <p14:creationId xmlns:p14="http://schemas.microsoft.com/office/powerpoint/2010/main" val="549462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456EB-8BA6-4723-BFBA-0D900B1C1A7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87447-B00E-45D4-9527-9FB04F4C1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282A2C-E212-474B-B59C-7D79490466FA}"/>
              </a:ext>
            </a:extLst>
          </p:cNvPr>
          <p:cNvSpPr txBox="1"/>
          <p:nvPr/>
        </p:nvSpPr>
        <p:spPr>
          <a:xfrm>
            <a:off x="693948" y="550816"/>
            <a:ext cx="2064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Product Catalog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2E2838-05DC-4F9E-8AF4-4288790D0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461" y="328781"/>
            <a:ext cx="5079077" cy="556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81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456EB-8BA6-4723-BFBA-0D900B1C1A7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87447-B00E-45D4-9527-9FB04F4C1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282A2C-E212-474B-B59C-7D79490466FA}"/>
              </a:ext>
            </a:extLst>
          </p:cNvPr>
          <p:cNvSpPr txBox="1"/>
          <p:nvPr/>
        </p:nvSpPr>
        <p:spPr>
          <a:xfrm>
            <a:off x="693948" y="550816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Shopping Cart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D4BAA2-655B-48D3-AE67-ACA11AF04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438" y="340949"/>
            <a:ext cx="4903124" cy="547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927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456EB-8BA6-4723-BFBA-0D900B1C1A7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87447-B00E-45D4-9527-9FB04F4C1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282A2C-E212-474B-B59C-7D79490466FA}"/>
              </a:ext>
            </a:extLst>
          </p:cNvPr>
          <p:cNvSpPr txBox="1"/>
          <p:nvPr/>
        </p:nvSpPr>
        <p:spPr>
          <a:xfrm>
            <a:off x="693948" y="550816"/>
            <a:ext cx="21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Order &amp; Payment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480F74-8610-4E3A-9ADA-1830336B1F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931" y="359795"/>
            <a:ext cx="5054138" cy="550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739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456EB-8BA6-4723-BFBA-0D900B1C1A7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87447-B00E-45D4-9527-9FB04F4C1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282A2C-E212-474B-B59C-7D79490466FA}"/>
              </a:ext>
            </a:extLst>
          </p:cNvPr>
          <p:cNvSpPr txBox="1"/>
          <p:nvPr/>
        </p:nvSpPr>
        <p:spPr>
          <a:xfrm>
            <a:off x="693948" y="550816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Product Reviews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E9E16D-8117-487B-8494-B150D9969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311" y="350771"/>
            <a:ext cx="5069378" cy="548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47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1A1AC-FDB5-3F76-4163-D68114DBB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9E6E8-61F4-2118-6E53-684B231311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5121" y="494950"/>
            <a:ext cx="10907016" cy="52347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Conclusion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BanglaTech</a:t>
            </a:r>
            <a:r>
              <a:rPr lang="en-US" dirty="0"/>
              <a:t> is a planned multi-vendor e-commerce system designed using industry-standard practices.</a:t>
            </a:r>
          </a:p>
          <a:p>
            <a:pPr>
              <a:lnSpc>
                <a:spcPct val="150000"/>
              </a:lnSpc>
            </a:pPr>
            <a:r>
              <a:rPr lang="en-US" dirty="0"/>
              <a:t>The project includes clear module division, ER diagram, and development schedule.</a:t>
            </a:r>
          </a:p>
          <a:p>
            <a:pPr>
              <a:lnSpc>
                <a:spcPct val="150000"/>
              </a:lnSpc>
            </a:pPr>
            <a:r>
              <a:rPr lang="en-US" dirty="0"/>
              <a:t>This documentation provides a strong initial foundation for successful system development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05F4D-8084-0EA3-203A-265A6B8552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545A1-DC46-2878-1CF9-3FB72BF40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219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46" y="327023"/>
            <a:ext cx="5931354" cy="556146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199" y="1788339"/>
            <a:ext cx="3103201" cy="3092539"/>
          </a:xfrm>
        </p:spPr>
        <p:txBody>
          <a:bodyPr/>
          <a:lstStyle/>
          <a:p>
            <a:r>
              <a:rPr lang="en-US" b="1" dirty="0"/>
              <a:t>Presented By:</a:t>
            </a:r>
            <a:endParaRPr lang="en-US" dirty="0"/>
          </a:p>
          <a:p>
            <a:r>
              <a:rPr lang="en-US" dirty="0"/>
              <a:t>Sohaib Hasan </a:t>
            </a:r>
            <a:r>
              <a:rPr lang="en-US" dirty="0" err="1"/>
              <a:t>Niloy</a:t>
            </a:r>
            <a:r>
              <a:rPr lang="en-US" dirty="0"/>
              <a:t> (2107028)</a:t>
            </a:r>
          </a:p>
          <a:p>
            <a:r>
              <a:rPr lang="en-US" dirty="0"/>
              <a:t>Tushar Kumar Roy (2107037)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68051-4856-FADE-1394-1BF8D4AFC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FCB1BC7D-EE8F-4610-B748-33D1F9065B77}" type="datetime1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D134F-4AA5-8D65-F269-E8A1D90CB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9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8698DA"/>
      </a:accent1>
      <a:accent2>
        <a:srgbClr val="9EE0F8"/>
      </a:accent2>
      <a:accent3>
        <a:srgbClr val="C1F088"/>
      </a:accent3>
      <a:accent4>
        <a:srgbClr val="A4E4D2"/>
      </a:accent4>
      <a:accent5>
        <a:srgbClr val="FFBF8F"/>
      </a:accent5>
      <a:accent6>
        <a:srgbClr val="FABBB0"/>
      </a:accent6>
      <a:hlink>
        <a:srgbClr val="56C7AA"/>
      </a:hlink>
      <a:folHlink>
        <a:srgbClr val="59A8D1"/>
      </a:folHlink>
    </a:clrScheme>
    <a:fontScheme name="Custom 74">
      <a:majorFont>
        <a:latin typeface="Jumble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SL_V6" id="{D9DA734B-CC3F-4DBB-B6FE-0BB140309365}" vid="{69AD8D68-423B-4DFD-8A07-EF38EEF8EBC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ppt/theme/themeOverride2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55A16D6-EDBE-419D-AF8F-74F00E41AF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093E94-C176-4FB3-93BB-02AEE1FEC2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5BF1A99-35F0-4B73-B737-B4DCDCD8CA5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Fluorescent presentation</Template>
  <TotalTime>297</TotalTime>
  <Words>763</Words>
  <Application>Microsoft Office PowerPoint</Application>
  <PresentationFormat>Widescreen</PresentationFormat>
  <Paragraphs>215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-apple-system</vt:lpstr>
      <vt:lpstr>Aptos</vt:lpstr>
      <vt:lpstr>Arial</vt:lpstr>
      <vt:lpstr>Calibri</vt:lpstr>
      <vt:lpstr>Century Gothic</vt:lpstr>
      <vt:lpstr>Jumble</vt:lpstr>
      <vt:lpstr>Custom</vt:lpstr>
      <vt:lpstr>BanglaTech E-Commerce Platform </vt:lpstr>
      <vt:lpstr>Project Objectives</vt:lpstr>
      <vt:lpstr>Technology Stack</vt:lpstr>
      <vt:lpstr>PowerPoint Presentation</vt:lpstr>
      <vt:lpstr>PowerPoint Presentation</vt:lpstr>
      <vt:lpstr>PowerPoint Presentation</vt:lpstr>
      <vt:lpstr>Project Timeline (8-10 Weeks)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BanglaTech E-Commerce Platform</dc:title>
  <dc:creator>sohaib Hasan Niloy</dc:creator>
  <cp:lastModifiedBy>Tushar Kumar Roy</cp:lastModifiedBy>
  <cp:revision>14</cp:revision>
  <dcterms:created xsi:type="dcterms:W3CDTF">2025-12-20T13:39:28Z</dcterms:created>
  <dcterms:modified xsi:type="dcterms:W3CDTF">2026-01-06T20:00:28Z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